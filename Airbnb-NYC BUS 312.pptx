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Arimo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05F6E2-6B83-468F-81F0-F65071961970}" v="20" dt="2026-04-28T05:42:24.3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hmeer Shaikh" userId="dc6be657629208fb" providerId="LiveId" clId="{8EA14E63-980A-4BFD-9E9F-7ADBADE896F0}"/>
    <pc:docChg chg="undo custSel modSld">
      <pc:chgData name="Shahmeer Shaikh" userId="dc6be657629208fb" providerId="LiveId" clId="{8EA14E63-980A-4BFD-9E9F-7ADBADE896F0}" dt="2026-04-28T05:42:24.333" v="486"/>
      <pc:docMkLst>
        <pc:docMk/>
      </pc:docMkLst>
      <pc:sldChg chg="addSp modSp mod">
        <pc:chgData name="Shahmeer Shaikh" userId="dc6be657629208fb" providerId="LiveId" clId="{8EA14E63-980A-4BFD-9E9F-7ADBADE896F0}" dt="2026-04-28T05:41:02.960" v="469"/>
        <pc:sldMkLst>
          <pc:docMk/>
          <pc:sldMk cId="0" sldId="256"/>
        </pc:sldMkLst>
        <pc:spChg chg="add mod">
          <ac:chgData name="Shahmeer Shaikh" userId="dc6be657629208fb" providerId="LiveId" clId="{8EA14E63-980A-4BFD-9E9F-7ADBADE896F0}" dt="2026-04-28T05:41:02.960" v="469"/>
          <ac:spMkLst>
            <pc:docMk/>
            <pc:sldMk cId="0" sldId="256"/>
            <ac:spMk id="6" creationId="{BC635372-4F43-7880-34F8-CB07A0151C6A}"/>
          </ac:spMkLst>
        </pc:spChg>
      </pc:sldChg>
      <pc:sldChg chg="addSp modSp mod">
        <pc:chgData name="Shahmeer Shaikh" userId="dc6be657629208fb" providerId="LiveId" clId="{8EA14E63-980A-4BFD-9E9F-7ADBADE896F0}" dt="2026-04-28T05:41:23.765" v="472"/>
        <pc:sldMkLst>
          <pc:docMk/>
          <pc:sldMk cId="0" sldId="257"/>
        </pc:sldMkLst>
        <pc:spChg chg="add mod">
          <ac:chgData name="Shahmeer Shaikh" userId="dc6be657629208fb" providerId="LiveId" clId="{8EA14E63-980A-4BFD-9E9F-7ADBADE896F0}" dt="2026-04-28T05:41:23.765" v="472"/>
          <ac:spMkLst>
            <pc:docMk/>
            <pc:sldMk cId="0" sldId="257"/>
            <ac:spMk id="20" creationId="{234A9B29-6AE1-A6A8-6881-7E4632264CC4}"/>
          </ac:spMkLst>
        </pc:spChg>
      </pc:sldChg>
      <pc:sldChg chg="addSp modSp mod">
        <pc:chgData name="Shahmeer Shaikh" userId="dc6be657629208fb" providerId="LiveId" clId="{8EA14E63-980A-4BFD-9E9F-7ADBADE896F0}" dt="2026-04-28T05:41:33.188" v="474"/>
        <pc:sldMkLst>
          <pc:docMk/>
          <pc:sldMk cId="0" sldId="258"/>
        </pc:sldMkLst>
        <pc:spChg chg="add mod">
          <ac:chgData name="Shahmeer Shaikh" userId="dc6be657629208fb" providerId="LiveId" clId="{8EA14E63-980A-4BFD-9E9F-7ADBADE896F0}" dt="2026-04-28T05:41:33.188" v="474"/>
          <ac:spMkLst>
            <pc:docMk/>
            <pc:sldMk cId="0" sldId="258"/>
            <ac:spMk id="23" creationId="{433C3692-2A0A-2848-5676-738B24CB3726}"/>
          </ac:spMkLst>
        </pc:spChg>
      </pc:sldChg>
      <pc:sldChg chg="addSp modSp mod">
        <pc:chgData name="Shahmeer Shaikh" userId="dc6be657629208fb" providerId="LiveId" clId="{8EA14E63-980A-4BFD-9E9F-7ADBADE896F0}" dt="2026-04-28T05:41:41.114" v="476"/>
        <pc:sldMkLst>
          <pc:docMk/>
          <pc:sldMk cId="0" sldId="259"/>
        </pc:sldMkLst>
        <pc:spChg chg="add mod">
          <ac:chgData name="Shahmeer Shaikh" userId="dc6be657629208fb" providerId="LiveId" clId="{8EA14E63-980A-4BFD-9E9F-7ADBADE896F0}" dt="2026-04-28T05:41:41.114" v="476"/>
          <ac:spMkLst>
            <pc:docMk/>
            <pc:sldMk cId="0" sldId="259"/>
            <ac:spMk id="21" creationId="{5EE0AE18-C6E1-6604-70FB-A547340BE36E}"/>
          </ac:spMkLst>
        </pc:spChg>
      </pc:sldChg>
      <pc:sldChg chg="addSp modSp mod">
        <pc:chgData name="Shahmeer Shaikh" userId="dc6be657629208fb" providerId="LiveId" clId="{8EA14E63-980A-4BFD-9E9F-7ADBADE896F0}" dt="2026-04-27T19:54:01.071" v="328" actId="20577"/>
        <pc:sldMkLst>
          <pc:docMk/>
          <pc:sldMk cId="0" sldId="260"/>
        </pc:sldMkLst>
        <pc:spChg chg="add mod">
          <ac:chgData name="Shahmeer Shaikh" userId="dc6be657629208fb" providerId="LiveId" clId="{8EA14E63-980A-4BFD-9E9F-7ADBADE896F0}" dt="2026-04-27T19:54:01.071" v="328" actId="20577"/>
          <ac:spMkLst>
            <pc:docMk/>
            <pc:sldMk cId="0" sldId="260"/>
            <ac:spMk id="19" creationId="{0653536F-4A6F-1122-CAEE-E818976C98FE}"/>
          </ac:spMkLst>
        </pc:spChg>
      </pc:sldChg>
      <pc:sldChg chg="addSp modSp mod">
        <pc:chgData name="Shahmeer Shaikh" userId="dc6be657629208fb" providerId="LiveId" clId="{8EA14E63-980A-4BFD-9E9F-7ADBADE896F0}" dt="2026-04-27T19:54:27.362" v="338" actId="20577"/>
        <pc:sldMkLst>
          <pc:docMk/>
          <pc:sldMk cId="0" sldId="261"/>
        </pc:sldMkLst>
        <pc:spChg chg="add mod">
          <ac:chgData name="Shahmeer Shaikh" userId="dc6be657629208fb" providerId="LiveId" clId="{8EA14E63-980A-4BFD-9E9F-7ADBADE896F0}" dt="2026-04-27T19:54:27.362" v="338" actId="20577"/>
          <ac:spMkLst>
            <pc:docMk/>
            <pc:sldMk cId="0" sldId="261"/>
            <ac:spMk id="15" creationId="{B7CF26E4-A553-5C72-8B73-0D78112E58FC}"/>
          </ac:spMkLst>
        </pc:spChg>
      </pc:sldChg>
      <pc:sldChg chg="addSp modSp mod">
        <pc:chgData name="Shahmeer Shaikh" userId="dc6be657629208fb" providerId="LiveId" clId="{8EA14E63-980A-4BFD-9E9F-7ADBADE896F0}" dt="2026-04-28T05:41:51.750" v="478"/>
        <pc:sldMkLst>
          <pc:docMk/>
          <pc:sldMk cId="0" sldId="262"/>
        </pc:sldMkLst>
        <pc:spChg chg="add mod">
          <ac:chgData name="Shahmeer Shaikh" userId="dc6be657629208fb" providerId="LiveId" clId="{8EA14E63-980A-4BFD-9E9F-7ADBADE896F0}" dt="2026-04-28T05:41:51.750" v="478"/>
          <ac:spMkLst>
            <pc:docMk/>
            <pc:sldMk cId="0" sldId="262"/>
            <ac:spMk id="18" creationId="{F7915377-0103-203B-0696-687B26724320}"/>
          </ac:spMkLst>
        </pc:spChg>
      </pc:sldChg>
      <pc:sldChg chg="addSp modSp mod">
        <pc:chgData name="Shahmeer Shaikh" userId="dc6be657629208fb" providerId="LiveId" clId="{8EA14E63-980A-4BFD-9E9F-7ADBADE896F0}" dt="2026-04-28T05:41:59.753" v="480"/>
        <pc:sldMkLst>
          <pc:docMk/>
          <pc:sldMk cId="0" sldId="263"/>
        </pc:sldMkLst>
        <pc:spChg chg="add mod">
          <ac:chgData name="Shahmeer Shaikh" userId="dc6be657629208fb" providerId="LiveId" clId="{8EA14E63-980A-4BFD-9E9F-7ADBADE896F0}" dt="2026-04-28T05:41:59.753" v="480"/>
          <ac:spMkLst>
            <pc:docMk/>
            <pc:sldMk cId="0" sldId="263"/>
            <ac:spMk id="50" creationId="{78127096-302A-6F13-C5A6-AB99704C8C07}"/>
          </ac:spMkLst>
        </pc:spChg>
      </pc:sldChg>
      <pc:sldChg chg="addSp modSp mod">
        <pc:chgData name="Shahmeer Shaikh" userId="dc6be657629208fb" providerId="LiveId" clId="{8EA14E63-980A-4BFD-9E9F-7ADBADE896F0}" dt="2026-04-28T05:42:07.748" v="482"/>
        <pc:sldMkLst>
          <pc:docMk/>
          <pc:sldMk cId="0" sldId="264"/>
        </pc:sldMkLst>
        <pc:spChg chg="add mod">
          <ac:chgData name="Shahmeer Shaikh" userId="dc6be657629208fb" providerId="LiveId" clId="{8EA14E63-980A-4BFD-9E9F-7ADBADE896F0}" dt="2026-04-28T05:42:07.748" v="482"/>
          <ac:spMkLst>
            <pc:docMk/>
            <pc:sldMk cId="0" sldId="264"/>
            <ac:spMk id="16" creationId="{D756C3F2-3454-87A8-746E-46109CCC1F97}"/>
          </ac:spMkLst>
        </pc:spChg>
      </pc:sldChg>
      <pc:sldChg chg="addSp modSp mod">
        <pc:chgData name="Shahmeer Shaikh" userId="dc6be657629208fb" providerId="LiveId" clId="{8EA14E63-980A-4BFD-9E9F-7ADBADE896F0}" dt="2026-04-28T05:42:17.466" v="484"/>
        <pc:sldMkLst>
          <pc:docMk/>
          <pc:sldMk cId="0" sldId="265"/>
        </pc:sldMkLst>
        <pc:spChg chg="add mod">
          <ac:chgData name="Shahmeer Shaikh" userId="dc6be657629208fb" providerId="LiveId" clId="{8EA14E63-980A-4BFD-9E9F-7ADBADE896F0}" dt="2026-04-28T05:42:17.466" v="484"/>
          <ac:spMkLst>
            <pc:docMk/>
            <pc:sldMk cId="0" sldId="265"/>
            <ac:spMk id="7" creationId="{011A6FC4-74ED-D208-A301-5BDEC3300E5C}"/>
          </ac:spMkLst>
        </pc:spChg>
      </pc:sldChg>
      <pc:sldChg chg="addSp modSp mod">
        <pc:chgData name="Shahmeer Shaikh" userId="dc6be657629208fb" providerId="LiveId" clId="{8EA14E63-980A-4BFD-9E9F-7ADBADE896F0}" dt="2026-04-28T05:42:24.333" v="486"/>
        <pc:sldMkLst>
          <pc:docMk/>
          <pc:sldMk cId="0" sldId="266"/>
        </pc:sldMkLst>
        <pc:spChg chg="add mod">
          <ac:chgData name="Shahmeer Shaikh" userId="dc6be657629208fb" providerId="LiveId" clId="{8EA14E63-980A-4BFD-9E9F-7ADBADE896F0}" dt="2026-04-28T05:42:24.333" v="486"/>
          <ac:spMkLst>
            <pc:docMk/>
            <pc:sldMk cId="0" sldId="266"/>
            <ac:spMk id="6" creationId="{039D91E0-0069-673C-96F8-B2998A399494}"/>
          </ac:spMkLst>
        </pc:spChg>
      </pc:sldChg>
      <pc:sldChg chg="addSp modSp mod">
        <pc:chgData name="Shahmeer Shaikh" userId="dc6be657629208fb" providerId="LiveId" clId="{8EA14E63-980A-4BFD-9E9F-7ADBADE896F0}" dt="2026-04-27T19:55:38.534" v="428" actId="20577"/>
        <pc:sldMkLst>
          <pc:docMk/>
          <pc:sldMk cId="0" sldId="267"/>
        </pc:sldMkLst>
        <pc:spChg chg="add mod">
          <ac:chgData name="Shahmeer Shaikh" userId="dc6be657629208fb" providerId="LiveId" clId="{8EA14E63-980A-4BFD-9E9F-7ADBADE896F0}" dt="2026-04-27T19:55:38.534" v="428" actId="20577"/>
          <ac:spMkLst>
            <pc:docMk/>
            <pc:sldMk cId="0" sldId="267"/>
            <ac:spMk id="17" creationId="{EDCD0BE4-A211-FCDC-9C14-D1DE4CCE354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6340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170152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Airbnb NYC: What Drives the Price of a Listing?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641175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multiple regression analysis of 1,042 New York City listings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24124" y="5293400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BUS 312 · Spring 2026</a:t>
            </a: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 |  Shahmeer · Arely · Shawkot · Andrew · Alexandra </a:t>
            </a:r>
            <a:endParaRPr lang="en-US" sz="18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635372-4F43-7880-34F8-CB07A0151C6A}"/>
              </a:ext>
            </a:extLst>
          </p:cNvPr>
          <p:cNvSpPr/>
          <p:nvPr/>
        </p:nvSpPr>
        <p:spPr>
          <a:xfrm>
            <a:off x="12611100" y="7724775"/>
            <a:ext cx="2019300" cy="5048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Presenter Shahmeer Shaikh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64168"/>
            <a:ext cx="4622125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Project &amp; Data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1124903" y="2006084"/>
            <a:ext cx="1266777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Can we predict the nightly price of an NYC Airbnb listing from its observable features?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37724" y="1833801"/>
            <a:ext cx="22860" cy="620197"/>
          </a:xfrm>
          <a:prstGeom prst="rect">
            <a:avLst/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75899" y="2722007"/>
            <a:ext cx="5105400" cy="631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4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1,042</a:t>
            </a:r>
            <a:endParaRPr lang="en-US" sz="4950" dirty="0"/>
          </a:p>
        </p:txBody>
      </p:sp>
      <p:sp>
        <p:nvSpPr>
          <p:cNvPr id="6" name="Text 4"/>
          <p:cNvSpPr/>
          <p:nvPr/>
        </p:nvSpPr>
        <p:spPr>
          <a:xfrm>
            <a:off x="2902148" y="3564493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Clean Listings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37724" y="3937992"/>
            <a:ext cx="6381750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After removing outliers and dropping rows with missing values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9101" y="2722007"/>
            <a:ext cx="5105400" cy="631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4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18</a:t>
            </a:r>
            <a:endParaRPr lang="en-US" sz="4950" dirty="0"/>
          </a:p>
        </p:txBody>
      </p:sp>
      <p:sp>
        <p:nvSpPr>
          <p:cNvPr id="9" name="Text 7"/>
          <p:cNvSpPr/>
          <p:nvPr/>
        </p:nvSpPr>
        <p:spPr>
          <a:xfrm>
            <a:off x="9402008" y="3564493"/>
            <a:ext cx="2399467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Variables Collected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410926" y="3937992"/>
            <a:ext cx="6381750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Including price, beds, baths, room type, borough, availability &amp; reviews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75899" y="4615696"/>
            <a:ext cx="5105400" cy="631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4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5</a:t>
            </a:r>
            <a:endParaRPr lang="en-US" sz="4950" dirty="0"/>
          </a:p>
        </p:txBody>
      </p:sp>
      <p:sp>
        <p:nvSpPr>
          <p:cNvPr id="12" name="Text 10"/>
          <p:cNvSpPr/>
          <p:nvPr/>
        </p:nvSpPr>
        <p:spPr>
          <a:xfrm>
            <a:off x="2902148" y="5458182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NYC Boroughs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837724" y="5831681"/>
            <a:ext cx="6381750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Manhattan, Brooklyn, Queens, Bronx, and Staten Island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49101" y="4615696"/>
            <a:ext cx="5105400" cy="631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4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2025</a:t>
            </a:r>
            <a:endParaRPr lang="en-US" sz="4950" dirty="0"/>
          </a:p>
        </p:txBody>
      </p:sp>
      <p:sp>
        <p:nvSpPr>
          <p:cNvPr id="15" name="Text 13"/>
          <p:cNvSpPr/>
          <p:nvPr/>
        </p:nvSpPr>
        <p:spPr>
          <a:xfrm>
            <a:off x="9475351" y="5458182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 Year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410926" y="5831681"/>
            <a:ext cx="6381750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Collected from Inside Airbnb, March 2025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37724" y="6279594"/>
            <a:ext cx="12954952" cy="985837"/>
          </a:xfrm>
          <a:prstGeom prst="roundRect">
            <a:avLst>
              <a:gd name="adj" fmla="val 2914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176" y="6557129"/>
            <a:ext cx="239316" cy="19145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459944" y="6480572"/>
            <a:ext cx="12141279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Data cleansing completed prior to analysis: prices capped at $450 to remove extreme outliers; rows with missing values in key variables were dropped.</a:t>
            </a:r>
            <a:endParaRPr lang="en-US" sz="15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4A9B29-6AE1-A6A8-6881-7E4632264CC4}"/>
              </a:ext>
            </a:extLst>
          </p:cNvPr>
          <p:cNvSpPr/>
          <p:nvPr/>
        </p:nvSpPr>
        <p:spPr>
          <a:xfrm>
            <a:off x="12611100" y="7724775"/>
            <a:ext cx="2019300" cy="5048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Presenter Shahmeer Shaikh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731996"/>
            <a:ext cx="4505920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 Cleansing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324124" y="1525072"/>
            <a:ext cx="7468553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From raw Airbnb export to a clean, analysis-ready dataset.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324124" y="1972985"/>
            <a:ext cx="7468553" cy="1353383"/>
          </a:xfrm>
          <a:prstGeom prst="roundRect">
            <a:avLst>
              <a:gd name="adj" fmla="val 2123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346984" y="1995845"/>
            <a:ext cx="765929" cy="1307663"/>
          </a:xfrm>
          <a:prstGeom prst="roundRect">
            <a:avLst>
              <a:gd name="adj" fmla="val 169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586299" y="2470190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7266027" y="2187297"/>
            <a:ext cx="2677120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Standardize Columns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266027" y="2560796"/>
            <a:ext cx="6312337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Cleaned Borough and Room Type labels; unified number formats so text fields worked as proper categorical variables.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324124" y="3479483"/>
            <a:ext cx="7468553" cy="1353383"/>
          </a:xfrm>
          <a:prstGeom prst="roundRect">
            <a:avLst>
              <a:gd name="adj" fmla="val 2123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346984" y="3502343"/>
            <a:ext cx="765929" cy="1307663"/>
          </a:xfrm>
          <a:prstGeom prst="roundRect">
            <a:avLst>
              <a:gd name="adj" fmla="val 169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86299" y="3976688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7266027" y="3693795"/>
            <a:ext cx="2851547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Handle Outliers &amp; Gaps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266027" y="4067294"/>
            <a:ext cx="6312337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Capped prices at $450 to remove extreme outliers; dropped rows with missing values in key variables.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324124" y="4985980"/>
            <a:ext cx="7468553" cy="1353383"/>
          </a:xfrm>
          <a:prstGeom prst="roundRect">
            <a:avLst>
              <a:gd name="adj" fmla="val 2123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346984" y="5008840"/>
            <a:ext cx="765929" cy="1307663"/>
          </a:xfrm>
          <a:prstGeom prst="roundRect">
            <a:avLst>
              <a:gd name="adj" fmla="val 169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586299" y="5483185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7266027" y="5200293"/>
            <a:ext cx="2545794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Add Estimated Price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7266027" y="5573792"/>
            <a:ext cx="6312337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Built a calculated Estimated Price column to compare model predictions against actual listing prices.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324124" y="6511647"/>
            <a:ext cx="7468553" cy="985837"/>
          </a:xfrm>
          <a:prstGeom prst="roundRect">
            <a:avLst>
              <a:gd name="adj" fmla="val 2914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576" y="6789182"/>
            <a:ext cx="239316" cy="19145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946344" y="6712625"/>
            <a:ext cx="6654879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Final dataset:</a:t>
            </a:r>
            <a:r>
              <a:rPr lang="en-US" sz="15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1,042 clean listings · 18 variables · 5 NYC boroughs · ready for regression.</a:t>
            </a:r>
            <a:endParaRPr lang="en-US" sz="15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3C3692-2A0A-2848-5676-738B24CB3726}"/>
              </a:ext>
            </a:extLst>
          </p:cNvPr>
          <p:cNvSpPr/>
          <p:nvPr/>
        </p:nvSpPr>
        <p:spPr>
          <a:xfrm>
            <a:off x="12611100" y="7724775"/>
            <a:ext cx="2019300" cy="5048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Presenter Shahmeer Shaikh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815459"/>
            <a:ext cx="4528423" cy="492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Descriptive Statistics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324124" y="1483995"/>
            <a:ext cx="7468553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typical NYC listing: </a:t>
            </a:r>
            <a:r>
              <a:rPr lang="en-US" sz="13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$134 a night</a:t>
            </a: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modest and right-skewed.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873240" y="1927384"/>
            <a:ext cx="2562582" cy="552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$158.71</a:t>
            </a:r>
            <a:endParaRPr lang="en-US" sz="4350" dirty="0"/>
          </a:p>
        </p:txBody>
      </p:sp>
      <p:sp>
        <p:nvSpPr>
          <p:cNvPr id="6" name="Text 3"/>
          <p:cNvSpPr/>
          <p:nvPr/>
        </p:nvSpPr>
        <p:spPr>
          <a:xfrm>
            <a:off x="7014329" y="2651879"/>
            <a:ext cx="2280523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Avg Price by Borough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324124" y="2968704"/>
            <a:ext cx="3660934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Weighted average across all five boroughs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680740" y="1927384"/>
            <a:ext cx="2562701" cy="552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$134</a:t>
            </a:r>
            <a:endParaRPr lang="en-US" sz="4350" dirty="0"/>
          </a:p>
        </p:txBody>
      </p:sp>
      <p:sp>
        <p:nvSpPr>
          <p:cNvPr id="9" name="Text 6"/>
          <p:cNvSpPr/>
          <p:nvPr/>
        </p:nvSpPr>
        <p:spPr>
          <a:xfrm>
            <a:off x="10939582" y="2651879"/>
            <a:ext cx="20450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Mean Nightly Price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0131623" y="2968704"/>
            <a:ext cx="3661053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Central tendency of the sample distribution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73240" y="3514725"/>
            <a:ext cx="2562582" cy="552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$120</a:t>
            </a:r>
            <a:endParaRPr lang="en-US" sz="4350" dirty="0"/>
          </a:p>
        </p:txBody>
      </p:sp>
      <p:sp>
        <p:nvSpPr>
          <p:cNvPr id="12" name="Text 9"/>
          <p:cNvSpPr/>
          <p:nvPr/>
        </p:nvSpPr>
        <p:spPr>
          <a:xfrm>
            <a:off x="7168872" y="4239220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Median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324124" y="4556046"/>
            <a:ext cx="3660934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Half of listings fall below this price point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680740" y="3514725"/>
            <a:ext cx="2562701" cy="552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$87.95</a:t>
            </a:r>
            <a:endParaRPr lang="en-US" sz="4350" dirty="0"/>
          </a:p>
        </p:txBody>
      </p:sp>
      <p:sp>
        <p:nvSpPr>
          <p:cNvPr id="15" name="Text 12"/>
          <p:cNvSpPr/>
          <p:nvPr/>
        </p:nvSpPr>
        <p:spPr>
          <a:xfrm>
            <a:off x="10976491" y="4239220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Std. Deviation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0131623" y="4556046"/>
            <a:ext cx="3661053" cy="455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Reflects meaningful price spread across the dataset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776930" y="5329833"/>
            <a:ext cx="2562701" cy="552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1.13</a:t>
            </a:r>
            <a:endParaRPr lang="en-US" sz="4350" dirty="0"/>
          </a:p>
        </p:txBody>
      </p:sp>
      <p:sp>
        <p:nvSpPr>
          <p:cNvPr id="18" name="Text 15"/>
          <p:cNvSpPr/>
          <p:nvPr/>
        </p:nvSpPr>
        <p:spPr>
          <a:xfrm>
            <a:off x="9072682" y="6054328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Skewness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8227814" y="6371153"/>
            <a:ext cx="3661053" cy="455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Right-skewed: a long upper tail of premium listings pulls the mean above the median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324124" y="6958608"/>
            <a:ext cx="7468553" cy="455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300" i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Source: Sample of 1,042 NYC listings, Inside Airbnb / class dataset, March 2025. Price range: $50–$450.</a:t>
            </a:r>
            <a:endParaRPr lang="en-US" sz="13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E0AE18-C6E1-6604-70FB-A547340BE36E}"/>
              </a:ext>
            </a:extLst>
          </p:cNvPr>
          <p:cNvSpPr/>
          <p:nvPr/>
        </p:nvSpPr>
        <p:spPr>
          <a:xfrm>
            <a:off x="12611100" y="7724775"/>
            <a:ext cx="2019300" cy="5048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Presenter Shahmeer Shaikh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1649" y="666631"/>
            <a:ext cx="7096601" cy="545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Price by Neighborhood Group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11649" y="1499711"/>
            <a:ext cx="13007102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Manhattan commands the premium — and the widest price spread.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649" y="2086451"/>
            <a:ext cx="6636901" cy="35872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67863" y="3415665"/>
            <a:ext cx="2182535" cy="272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Key Takeaways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567863" y="3832146"/>
            <a:ext cx="4258389" cy="52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i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Box = IQR (25th–75th percentile). White line = median. Diamond = mean. Dots = outliers.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11649" y="5997059"/>
            <a:ext cx="4239816" cy="1565791"/>
          </a:xfrm>
          <a:prstGeom prst="roundRect">
            <a:avLst>
              <a:gd name="adj" fmla="val 7008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88789" y="5997059"/>
            <a:ext cx="91440" cy="1565791"/>
          </a:xfrm>
          <a:prstGeom prst="roundRect">
            <a:avLst>
              <a:gd name="adj" fmla="val 30433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88588" y="6205418"/>
            <a:ext cx="2182535" cy="272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Manhattan Leads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88588" y="6564392"/>
            <a:ext cx="375451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Median $160, with listings reaching $420+ at the top whisker — the most expensive and variable borough.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195173" y="5997059"/>
            <a:ext cx="4239935" cy="1565791"/>
          </a:xfrm>
          <a:prstGeom prst="roundRect">
            <a:avLst>
              <a:gd name="adj" fmla="val 7008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172313" y="5997059"/>
            <a:ext cx="91440" cy="1565791"/>
          </a:xfrm>
          <a:prstGeom prst="roundRect">
            <a:avLst>
              <a:gd name="adj" fmla="val 30433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72113" y="6205418"/>
            <a:ext cx="2649141" cy="272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Brooklyn in the Middle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472113" y="6564392"/>
            <a:ext cx="3754636" cy="52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Median $120 — roughly $40 cheaper than Manhattan, with moderate spread.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9578816" y="5997059"/>
            <a:ext cx="4239935" cy="1565791"/>
          </a:xfrm>
          <a:prstGeom prst="roundRect">
            <a:avLst>
              <a:gd name="adj" fmla="val 7008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9555956" y="5997059"/>
            <a:ext cx="91440" cy="1565791"/>
          </a:xfrm>
          <a:prstGeom prst="roundRect">
            <a:avLst>
              <a:gd name="adj" fmla="val 30433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855756" y="6205418"/>
            <a:ext cx="3342322" cy="272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Outer Boroughs Cluster Low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9855756" y="6564392"/>
            <a:ext cx="3754636" cy="52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Bronx &amp; Staten Island medians sit below $90, with tight price ranges and few outliers.</a:t>
            </a:r>
            <a:endParaRPr lang="en-US" sz="14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53536F-4A6F-1122-CAEE-E818976C98FE}"/>
              </a:ext>
            </a:extLst>
          </p:cNvPr>
          <p:cNvSpPr/>
          <p:nvPr/>
        </p:nvSpPr>
        <p:spPr>
          <a:xfrm>
            <a:off x="12611100" y="7724775"/>
            <a:ext cx="2019300" cy="5048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Presenter Shahmeer Shaikh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063347"/>
            <a:ext cx="4618434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Price by Room Type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837724" y="1860590"/>
            <a:ext cx="12954952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Entire homes rent for about </a:t>
            </a:r>
            <a:r>
              <a:rPr lang="en-US" sz="1400" b="1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$53 more per night</a:t>
            </a: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at the median — and this gap becomes one of our strongest regression signals.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703790"/>
            <a:ext cx="6200418" cy="4022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50598" y="2397919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What to Notice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9550598" y="2813328"/>
            <a:ext cx="4249579" cy="1511379"/>
          </a:xfrm>
          <a:prstGeom prst="roundRect">
            <a:avLst>
              <a:gd name="adj" fmla="val 1782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730026" y="2992755"/>
            <a:ext cx="3515678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Entire Home/Apt: $149 Median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730026" y="3391257"/>
            <a:ext cx="3890724" cy="754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Higher median and a wider IQR — reflecting larger, more flexible listings with greater price variability.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550598" y="4459248"/>
            <a:ext cx="4249579" cy="1260038"/>
          </a:xfrm>
          <a:prstGeom prst="roundRect">
            <a:avLst>
              <a:gd name="adj" fmla="val 2137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730026" y="4638675"/>
            <a:ext cx="3043238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Private Room: $96 Median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730026" y="5037177"/>
            <a:ext cx="3890724" cy="502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Consistently cheaper, with a narrower core price range and a mean of $138.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550598" y="5870734"/>
            <a:ext cx="4249579" cy="1144072"/>
          </a:xfrm>
          <a:prstGeom prst="roundRect">
            <a:avLst>
              <a:gd name="adj" fmla="val 2354"/>
            </a:avLst>
          </a:prstGeom>
          <a:solidFill>
            <a:srgbClr val="0F00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0026" y="6120765"/>
            <a:ext cx="224314" cy="17942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133767" y="6050042"/>
            <a:ext cx="3486983" cy="754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Room type is a meaningful price driver — it becomes one of our strongest regression predictors (coefficient: −$43.30).</a:t>
            </a:r>
            <a:endParaRPr lang="en-US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CF26E4-A553-5C72-8B73-0D78112E58FC}"/>
              </a:ext>
            </a:extLst>
          </p:cNvPr>
          <p:cNvSpPr/>
          <p:nvPr/>
        </p:nvSpPr>
        <p:spPr>
          <a:xfrm>
            <a:off x="12611100" y="7724775"/>
            <a:ext cx="2019300" cy="5048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Presenter Shahmeer Shaikh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340406"/>
            <a:ext cx="7091482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What Correlates With Price?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324124" y="2133481"/>
            <a:ext cx="7468553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Accommodates and minimum nights stand out. Reviews, surprisingly, don't move the needle.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324124" y="2857024"/>
            <a:ext cx="430768" cy="430768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4372" y="2903458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908006" y="2922746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Capacity Is King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908006" y="3296245"/>
            <a:ext cx="6884670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Accommodates</a:t>
            </a: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shows the strongest positive correlation (</a:t>
            </a:r>
            <a:r>
              <a:rPr lang="en-US" sz="1500" b="1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+0.45</a:t>
            </a: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). Bigger units that sleep more guests command higher nightly prices.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324124" y="4153853"/>
            <a:ext cx="430768" cy="430768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4372" y="4200287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908006" y="4219575"/>
            <a:ext cx="4463653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Minimum Nights Pushes Price Down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908006" y="4593074"/>
            <a:ext cx="6884670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correlation of </a:t>
            </a:r>
            <a:r>
              <a:rPr lang="en-US" sz="1500" b="1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−0.41</a:t>
            </a: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listings requiring longer minimum stays are associated with lower nightly rates, likely reflecting a discount-for-commitment pattern.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324124" y="5450681"/>
            <a:ext cx="430768" cy="430768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4372" y="5497116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908006" y="5516404"/>
            <a:ext cx="2258735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Reviews Are Noise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6908006" y="5889903"/>
            <a:ext cx="6884670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Number of reviews and review frequency show weak or near-zero correlation with price — guest engagement doesn't reliably signal listing value.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324124" y="6613446"/>
            <a:ext cx="7468553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i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Pearson correlation coefficients between each variable and nightly price (n = 1,042).</a:t>
            </a:r>
            <a:endParaRPr lang="en-US" sz="15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915377-0103-203B-0696-687B26724320}"/>
              </a:ext>
            </a:extLst>
          </p:cNvPr>
          <p:cNvSpPr/>
          <p:nvPr/>
        </p:nvSpPr>
        <p:spPr>
          <a:xfrm>
            <a:off x="12611100" y="7724775"/>
            <a:ext cx="2019300" cy="5048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Presenter Shahmeer Shaikh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74646"/>
            <a:ext cx="6401038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Regression Model — All NYC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837724" y="1771888"/>
            <a:ext cx="12954952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Six predictors explain roughly </a:t>
            </a:r>
            <a:r>
              <a:rPr lang="en-US" sz="1400" b="1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47% of the variation</a:t>
            </a: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in nightly price. The model is highly significant overall (F = 152.0, p &lt; 0.001).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63504" y="2264331"/>
            <a:ext cx="3154561" cy="592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50"/>
              </a:lnSpc>
              <a:buNone/>
            </a:pPr>
            <a:r>
              <a:rPr lang="en-US" sz="4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0.468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1884640" y="3047405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R²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37724" y="3392091"/>
            <a:ext cx="4206121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Variance in price explained by the model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37860" y="2264331"/>
            <a:ext cx="3154561" cy="592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50"/>
              </a:lnSpc>
              <a:buNone/>
            </a:pPr>
            <a:r>
              <a:rPr lang="en-US" sz="4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152.0</a:t>
            </a:r>
            <a:endParaRPr lang="en-US" sz="4650" dirty="0"/>
          </a:p>
        </p:txBody>
      </p:sp>
      <p:sp>
        <p:nvSpPr>
          <p:cNvPr id="8" name="Text 6"/>
          <p:cNvSpPr/>
          <p:nvPr/>
        </p:nvSpPr>
        <p:spPr>
          <a:xfrm>
            <a:off x="6258997" y="3047405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F-Statistic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212080" y="3392091"/>
            <a:ext cx="4206121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 &lt; 0.001 — model is highly significant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112216" y="2264331"/>
            <a:ext cx="3154561" cy="592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50"/>
              </a:lnSpc>
              <a:buNone/>
            </a:pPr>
            <a:r>
              <a:rPr lang="en-US" sz="4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1,042</a:t>
            </a:r>
            <a:endParaRPr lang="en-US" sz="4650" dirty="0"/>
          </a:p>
        </p:txBody>
      </p:sp>
      <p:sp>
        <p:nvSpPr>
          <p:cNvPr id="11" name="Text 9"/>
          <p:cNvSpPr/>
          <p:nvPr/>
        </p:nvSpPr>
        <p:spPr>
          <a:xfrm>
            <a:off x="10633353" y="3047405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Observations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586436" y="3392091"/>
            <a:ext cx="4206121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Full cleaned dataset used in regression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7724" y="3794879"/>
            <a:ext cx="12954952" cy="3057168"/>
          </a:xfrm>
          <a:prstGeom prst="roundRect">
            <a:avLst>
              <a:gd name="adj" fmla="val 88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5009" y="3890843"/>
            <a:ext cx="3260408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Variable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51891" y="3890843"/>
            <a:ext cx="1962626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Coefficient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80992" y="3890843"/>
            <a:ext cx="1445062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 Stat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92528" y="3890843"/>
            <a:ext cx="1445062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p-value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604063" y="3890843"/>
            <a:ext cx="3001566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25009" y="4326493"/>
            <a:ext cx="3260408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Accommodates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51891" y="4326493"/>
            <a:ext cx="1962626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+18.99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80992" y="4326493"/>
            <a:ext cx="1445062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13.16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92528" y="4326493"/>
            <a:ext cx="1445062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&lt; 0.001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604063" y="4326493"/>
            <a:ext cx="3001566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+$19 per additional guest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25009" y="4762143"/>
            <a:ext cx="3260408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Borough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51891" y="4762143"/>
            <a:ext cx="1962626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+15.24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80992" y="4762143"/>
            <a:ext cx="1445062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11.20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792528" y="4762143"/>
            <a:ext cx="1445062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&lt; 0.001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604063" y="4762143"/>
            <a:ext cx="3001566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Price rises moving toward Manhattan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25009" y="5197793"/>
            <a:ext cx="3260408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Bathrooms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51891" y="5197793"/>
            <a:ext cx="1962626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+11.22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80992" y="5197793"/>
            <a:ext cx="1445062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2.58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792528" y="5197793"/>
            <a:ext cx="1445062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0.010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604063" y="5197793"/>
            <a:ext cx="3001566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+$11 per extra bathroom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25009" y="5633442"/>
            <a:ext cx="3260408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Room Type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651891" y="5633442"/>
            <a:ext cx="1962626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−43.30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80992" y="5633442"/>
            <a:ext cx="1445062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−8.47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792528" y="5633442"/>
            <a:ext cx="1445062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&lt; 0.001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604063" y="5633442"/>
            <a:ext cx="3001566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Private rooms ≈ $43 cheaper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25009" y="6069092"/>
            <a:ext cx="3260408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Minimum Nights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651891" y="6069092"/>
            <a:ext cx="1962626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−3.35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980992" y="6069092"/>
            <a:ext cx="1445062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−18.19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792528" y="6069092"/>
            <a:ext cx="1445062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&lt; 0.001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604063" y="6069092"/>
            <a:ext cx="3001566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−$3.35 per extra required night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025009" y="6504742"/>
            <a:ext cx="3260408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Availability 365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651891" y="6504742"/>
            <a:ext cx="1962626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−0.04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980992" y="6504742"/>
            <a:ext cx="1445062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−2.15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792528" y="6504742"/>
            <a:ext cx="1445062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0.032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0604063" y="6504742"/>
            <a:ext cx="3001566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Tiny effect, barely significant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37724" y="7003494"/>
            <a:ext cx="12954952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i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Intercept = $155.12. All six predictors significant at α = 0.05.</a:t>
            </a:r>
            <a:endParaRPr lang="en-US" sz="14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8127096-302A-6F13-C5A6-AB99704C8C07}"/>
              </a:ext>
            </a:extLst>
          </p:cNvPr>
          <p:cNvSpPr/>
          <p:nvPr/>
        </p:nvSpPr>
        <p:spPr>
          <a:xfrm>
            <a:off x="12611100" y="7724775"/>
            <a:ext cx="2019300" cy="5048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Presenter Shahmeer Shaikh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9262" y="598646"/>
            <a:ext cx="4746188" cy="414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Actual vs. Estimated Price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59262" y="1179433"/>
            <a:ext cx="13111877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Testing our model on 10 randomly selected listings — predictions track closely for low- and mid-range listings.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62" y="1451967"/>
            <a:ext cx="8522613" cy="42356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7820" y="5780961"/>
            <a:ext cx="6586895" cy="1134785"/>
          </a:xfrm>
          <a:prstGeom prst="roundRect">
            <a:avLst>
              <a:gd name="adj" fmla="val 1864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98790" y="5863947"/>
            <a:ext cx="1658898" cy="207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All NYC Model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98790" y="6154222"/>
            <a:ext cx="6304955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Adjusted R² = </a:t>
            </a:r>
            <a:r>
              <a:rPr lang="en-US" sz="1100" b="1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0.465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98790" y="6408063"/>
            <a:ext cx="6304955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 = 1,042 · 6 predictors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94746" y="5863947"/>
            <a:ext cx="2152174" cy="207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Manhattan-Only Model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4746" y="6154222"/>
            <a:ext cx="6384012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Adjusted R² = </a:t>
            </a:r>
            <a:r>
              <a:rPr lang="en-US" sz="11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0.475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494746" y="6408063"/>
            <a:ext cx="6384012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 = 508 · 9 predictors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4746" y="6661904"/>
            <a:ext cx="6384012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Unit size and amenities explain slightly more variation once location is held constant.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59262" y="7009090"/>
            <a:ext cx="13111877" cy="621744"/>
          </a:xfrm>
          <a:prstGeom prst="roundRect">
            <a:avLst>
              <a:gd name="adj" fmla="val 3402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232" y="7199114"/>
            <a:ext cx="176212" cy="14097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17414" y="7127319"/>
            <a:ext cx="12512754" cy="35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model underestimates the most expensive listings (#7, #8) and overshoots a few low-end ones (#1, #4, #5) — a common pattern when price extremes are driven by unobserved factors like luxury amenities or unique locations.</a:t>
            </a:r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56C3F2-3454-87A8-746E-46109CCC1F97}"/>
              </a:ext>
            </a:extLst>
          </p:cNvPr>
          <p:cNvSpPr/>
          <p:nvPr/>
        </p:nvSpPr>
        <p:spPr>
          <a:xfrm>
            <a:off x="12611100" y="7724775"/>
            <a:ext cx="2019300" cy="5048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Presenter Shahmeer Shaikh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74" y="673060"/>
            <a:ext cx="4505801" cy="445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Visualization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06874" y="1310283"/>
            <a:ext cx="13216652" cy="197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Tableau dashboard and Pearson correlation matrix — two complementary views that motivate and contextualize the regression model.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06874" y="1651754"/>
            <a:ext cx="1939528" cy="222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Tableau Dashboard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4" y="2018228"/>
            <a:ext cx="9912429" cy="52326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6874" y="7358658"/>
            <a:ext cx="13216652" cy="197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Average and estimated prices broken out by borough and neighborhood, plus listing counts. Brooklyn and Manhattan dominate by volume and price; Bronx and Staten Island trail in both dimensions.</a:t>
            </a:r>
            <a:endParaRPr lang="en-US" sz="11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1A6FC4-74ED-D208-A301-5BDEC3300E5C}"/>
              </a:ext>
            </a:extLst>
          </p:cNvPr>
          <p:cNvSpPr/>
          <p:nvPr/>
        </p:nvSpPr>
        <p:spPr>
          <a:xfrm>
            <a:off x="12611100" y="7724775"/>
            <a:ext cx="2019300" cy="5048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Presenter Shahmeer Shaikh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4627" y="688419"/>
            <a:ext cx="3881080" cy="485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Correlation Matrix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627" y="1343978"/>
            <a:ext cx="7852767" cy="52732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4627" y="6745010"/>
            <a:ext cx="12981146" cy="222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824627" y="7095530"/>
            <a:ext cx="12981146" cy="445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Pearson correlations across all numeric features. Accommodates (</a:t>
            </a:r>
            <a:r>
              <a:rPr lang="en-US" sz="1250" b="1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+0.65</a:t>
            </a:r>
            <a:r>
              <a:rPr lang="en-US" sz="12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) and borough (</a:t>
            </a:r>
            <a:r>
              <a:rPr lang="en-US" sz="1250" b="1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+0.45</a:t>
            </a:r>
            <a:r>
              <a:rPr lang="en-US" sz="12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) correlate most strongly with price; minimum nights (</a:t>
            </a:r>
            <a:r>
              <a:rPr lang="en-US" sz="1250" b="1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−0.60</a:t>
            </a:r>
            <a:r>
              <a:rPr lang="en-US" sz="12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) is the standout negative driver.</a:t>
            </a:r>
            <a:endParaRPr lang="en-US" sz="12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9D91E0-0069-673C-96F8-B2998A399494}"/>
              </a:ext>
            </a:extLst>
          </p:cNvPr>
          <p:cNvSpPr/>
          <p:nvPr/>
        </p:nvSpPr>
        <p:spPr>
          <a:xfrm>
            <a:off x="12611100" y="7724775"/>
            <a:ext cx="2019300" cy="5048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Presenter Shahmeer Shaikh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659374"/>
            <a:ext cx="1563767" cy="449818"/>
          </a:xfrm>
          <a:prstGeom prst="roundRect">
            <a:avLst>
              <a:gd name="adj" fmla="val 6386"/>
            </a:avLst>
          </a:prstGeom>
          <a:solidFill>
            <a:srgbClr val="0F00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81313" y="1731169"/>
            <a:ext cx="1276588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2204918"/>
            <a:ext cx="704635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What the Data Tells Us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837724" y="3267908"/>
            <a:ext cx="4158734" cy="3302198"/>
          </a:xfrm>
          <a:prstGeom prst="roundRect">
            <a:avLst>
              <a:gd name="adj" fmla="val 4431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7244" y="3267908"/>
            <a:ext cx="121920" cy="3302198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98959" y="3537704"/>
            <a:ext cx="352770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Size and location drive price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98959" y="4385191"/>
            <a:ext cx="3527703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Accommodates (+$19/guest) and borough (+$15.24) are the strongest predictors. A listing's capacity and where it sits in NYC matter most.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5235773" y="3267908"/>
            <a:ext cx="4158734" cy="3302198"/>
          </a:xfrm>
          <a:prstGeom prst="roundRect">
            <a:avLst>
              <a:gd name="adj" fmla="val 4431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205293" y="3267908"/>
            <a:ext cx="121920" cy="3302198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597009" y="3537704"/>
            <a:ext cx="352770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Private rooms discount = $43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97009" y="4385191"/>
            <a:ext cx="3527703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Holding other factors constant, private rooms rent for about $43 less per night than entire homes — a meaningful market segmentation.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9633823" y="3267908"/>
            <a:ext cx="4158853" cy="3302198"/>
          </a:xfrm>
          <a:prstGeom prst="roundRect">
            <a:avLst>
              <a:gd name="adj" fmla="val 4431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603343" y="3267908"/>
            <a:ext cx="121920" cy="3302198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995059" y="3537704"/>
            <a:ext cx="3527822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Model is useful, not perfect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995059" y="4385191"/>
            <a:ext cx="3527822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regression explains 47% of price variation. Unobserved factors like luxury amenities, unique locations, and guest reviews fill the remaining gap.</a:t>
            </a:r>
            <a:endParaRPr lang="en-US" sz="18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CD0BE4-A211-FCDC-9C14-D1DE4CCE3547}"/>
              </a:ext>
            </a:extLst>
          </p:cNvPr>
          <p:cNvSpPr/>
          <p:nvPr/>
        </p:nvSpPr>
        <p:spPr>
          <a:xfrm>
            <a:off x="12611100" y="7724775"/>
            <a:ext cx="2019300" cy="5048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Presenter Shahmeer </a:t>
            </a:r>
            <a:r>
              <a:rPr lang="en-US" dirty="0"/>
              <a:t>Shaikh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1161</Words>
  <Application>Microsoft Office PowerPoint</Application>
  <PresentationFormat>Custom</PresentationFormat>
  <Paragraphs>173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Syne Bold</vt:lpstr>
      <vt:lpstr>Arial</vt:lpstr>
      <vt:lpstr>Arimo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Shahmeer Shaikh</dc:creator>
  <cp:lastModifiedBy>Shahmeer Shaikh</cp:lastModifiedBy>
  <cp:revision>1</cp:revision>
  <dcterms:created xsi:type="dcterms:W3CDTF">2026-04-27T05:09:14Z</dcterms:created>
  <dcterms:modified xsi:type="dcterms:W3CDTF">2026-04-28T05:42:29Z</dcterms:modified>
</cp:coreProperties>
</file>